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3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46786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6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E5B45"/>
          </a:solidFill>
          <a:ln w="12700">
            <a:solidFill>
              <a:srgbClr val="1E5B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4773168"/>
            <a:ext cx="8138160" cy="0"/>
          </a:xfrm>
          <a:prstGeom prst="line">
            <a:avLst/>
          </a:prstGeom>
          <a:noFill/>
          <a:ln w="8890">
            <a:solidFill>
              <a:srgbClr val="D7E2D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837176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B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MMPG Bioinformatics  |  WDL RNA-seq runbook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94192" y="48188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5B6B6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94192" y="48188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5B6B6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2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E37D42"/>
          </a:solidFill>
          <a:ln w="12700">
            <a:solidFill>
              <a:srgbClr val="E37D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92240" y="-228600"/>
            <a:ext cx="3566160" cy="3566160"/>
          </a:xfrm>
          <a:prstGeom prst="arc">
            <a:avLst/>
          </a:prstGeom>
          <a:solidFill>
            <a:srgbClr val="17324D">
              <a:alpha val="0"/>
            </a:srgbClr>
          </a:solidFill>
          <a:ln w="101600">
            <a:solidFill>
              <a:srgbClr val="3B8C68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132320" y="411480"/>
            <a:ext cx="2286000" cy="2286000"/>
          </a:xfrm>
          <a:prstGeom prst="arc">
            <a:avLst/>
          </a:prstGeom>
          <a:solidFill>
            <a:srgbClr val="17324D">
              <a:alpha val="0"/>
            </a:srgbClr>
          </a:solidFill>
          <a:ln w="38100">
            <a:solidFill>
              <a:srgbClr val="F1B95D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71323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7E8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MMPG BIOINFORMATICS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6583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WDL RNA-seq workflow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40080" y="1810512"/>
            <a:ext cx="6766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1B9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CD6-treated vs Control shoots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658368" y="2487168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D7E7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paired-end FASTQs to QC, STAR alignment, counts, DESeq2, and MultiQC on Cromwell + SLURM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58368" y="3337560"/>
            <a:ext cx="1143000" cy="292608"/>
          </a:xfrm>
          <a:prstGeom prst="roundRect">
            <a:avLst>
              <a:gd name="adj" fmla="val 18750"/>
            </a:avLst>
          </a:prstGeom>
          <a:solidFill>
            <a:srgbClr val="C7E8D2"/>
          </a:solidFill>
          <a:ln w="12700">
            <a:solidFill>
              <a:srgbClr val="C7E8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58368" y="3396996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libraries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901952" y="3337560"/>
            <a:ext cx="1691640" cy="292608"/>
          </a:xfrm>
          <a:prstGeom prst="roundRect">
            <a:avLst>
              <a:gd name="adj" fmla="val 18750"/>
            </a:avLst>
          </a:prstGeom>
          <a:solidFill>
            <a:srgbClr val="F1B95D"/>
          </a:solidFill>
          <a:ln w="12700">
            <a:solidFill>
              <a:srgbClr val="F1B9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901952" y="3396996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vs 3 replicates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703320" y="3337560"/>
            <a:ext cx="2084832" cy="292608"/>
          </a:xfrm>
          <a:prstGeom prst="roundRect">
            <a:avLst>
              <a:gd name="adj" fmla="val 18750"/>
            </a:avLst>
          </a:prstGeom>
          <a:solidFill>
            <a:srgbClr val="DCEFE5"/>
          </a:solidFill>
          <a:ln w="12700">
            <a:solidFill>
              <a:srgbClr val="DCEF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703320" y="3396996"/>
            <a:ext cx="20848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Cucumis sativus reference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658368" y="4224528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B9CE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Completed workflow run: Succeeded  |  Workflow UUID d94bf175-9ca9-46b7-94e1-5080aa202420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10896"/>
            <a:ext cx="7589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1E5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 EXPERIMENT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small, balanced comparison with a clear biological question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30352" y="109728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B6B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biological replicates per condition; paired-end reads stay paired throughout the workflow.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66928" y="1627632"/>
            <a:ext cx="16002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0160">
            <a:solidFill>
              <a:srgbClr val="D7E2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66928" y="1627632"/>
            <a:ext cx="73152" cy="868680"/>
          </a:xfrm>
          <a:prstGeom prst="rect">
            <a:avLst/>
          </a:prstGeom>
          <a:solidFill>
            <a:srgbClr val="1E5B45"/>
          </a:solidFill>
          <a:ln w="12700">
            <a:solidFill>
              <a:srgbClr val="1E5B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68096" y="1773936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68096" y="217627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5B6B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paired-end libraries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2331720" y="1627632"/>
            <a:ext cx="16002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0160">
            <a:solidFill>
              <a:srgbClr val="D7E2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331720" y="1627632"/>
            <a:ext cx="73152" cy="868680"/>
          </a:xfrm>
          <a:prstGeom prst="rect">
            <a:avLst/>
          </a:prstGeom>
          <a:solidFill>
            <a:srgbClr val="E37D42"/>
          </a:solidFill>
          <a:ln w="12700">
            <a:solidFill>
              <a:srgbClr val="E37D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532888" y="1773936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 + 3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532888" y="217627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5B6B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CD6 vs Control replicates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4096512" y="1627632"/>
            <a:ext cx="16002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0160">
            <a:solidFill>
              <a:srgbClr val="D7E2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096512" y="1627632"/>
            <a:ext cx="73152" cy="868680"/>
          </a:xfrm>
          <a:prstGeom prst="rect">
            <a:avLst/>
          </a:prstGeom>
          <a:solidFill>
            <a:srgbClr val="4679A7"/>
          </a:solidFill>
          <a:ln w="12700">
            <a:solidFill>
              <a:srgbClr val="467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297680" y="1773936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~ condition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297680" y="217627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5B6B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DESeq2 design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5861304" y="1627632"/>
            <a:ext cx="16002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0160">
            <a:solidFill>
              <a:srgbClr val="D7E2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861304" y="1627632"/>
            <a:ext cx="73152" cy="868680"/>
          </a:xfrm>
          <a:prstGeom prst="rect">
            <a:avLst/>
          </a:prstGeom>
          <a:solidFill>
            <a:srgbClr val="F1B95D"/>
          </a:solidFill>
          <a:ln w="12700">
            <a:solidFill>
              <a:srgbClr val="F1B9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062472" y="1773936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CD6-Control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062472" y="217627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5B6B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contrast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566928" y="2788920"/>
            <a:ext cx="3749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0160">
            <a:solidFill>
              <a:srgbClr val="D7E2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49808" y="2990088"/>
            <a:ext cx="1225296" cy="283464"/>
          </a:xfrm>
          <a:prstGeom prst="roundRect">
            <a:avLst>
              <a:gd name="adj" fmla="val 16129"/>
            </a:avLst>
          </a:prstGeom>
          <a:solidFill>
            <a:srgbClr val="1E5B45"/>
          </a:solidFill>
          <a:ln w="12700">
            <a:solidFill>
              <a:srgbClr val="1E5B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59536" y="3049524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CD6 treatment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49808" y="3438144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CD6Shoot1   CD6Shoot2   CD6Shoot3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49808" y="376732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5B6B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Biological replicates from shoot tissue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17720" y="2788920"/>
            <a:ext cx="3749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0160">
            <a:solidFill>
              <a:srgbClr val="D7E2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800600" y="2990088"/>
            <a:ext cx="1143000" cy="283464"/>
          </a:xfrm>
          <a:prstGeom prst="roundRect">
            <a:avLst>
              <a:gd name="adj" fmla="val 16129"/>
            </a:avLst>
          </a:prstGeom>
          <a:solidFill>
            <a:srgbClr val="E37D42"/>
          </a:solidFill>
          <a:ln w="12700">
            <a:solidFill>
              <a:srgbClr val="E37D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910328" y="3049524"/>
            <a:ext cx="9235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00600" y="3438144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ControlShoot1   ControlShoot2   ControlShoot3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4800600" y="376732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5B6B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 level for the differential comparison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94360" y="440740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B84C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 guardrail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847088" y="4407408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5B6B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ASM407v2 is a Cucumis sativus (cucumber) assembly. Confirm species identity before interpreting biological results.</a:t>
            </a:r>
            <a:endParaRPr lang="en-US" sz="10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94192" y="48188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5B6B6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10896"/>
            <a:ext cx="7589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1E5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 WORKFLOW MAP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WDL turns a multi-tool analysis into a reproducible dependency graph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30352" y="109728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B6B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Cromwell schedules calls; SLURM supplies compute; outputs flow into downstream calls.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30352" y="1874520"/>
            <a:ext cx="1344168" cy="932688"/>
          </a:xfrm>
          <a:prstGeom prst="roundRect">
            <a:avLst>
              <a:gd name="adj" fmla="val 7843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2020824"/>
            <a:ext cx="1124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322576"/>
            <a:ext cx="112471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FASTQs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FASTA + GTF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901952" y="2340864"/>
            <a:ext cx="82296" cy="0"/>
          </a:xfrm>
          <a:prstGeom prst="line">
            <a:avLst/>
          </a:prstGeom>
          <a:noFill/>
          <a:ln w="19050">
            <a:solidFill>
              <a:srgbClr val="3B8C6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020824" y="1874520"/>
            <a:ext cx="1344168" cy="932688"/>
          </a:xfrm>
          <a:prstGeom prst="roundRect">
            <a:avLst>
              <a:gd name="adj" fmla="val 7843"/>
            </a:avLst>
          </a:prstGeom>
          <a:solidFill>
            <a:srgbClr val="4679A7"/>
          </a:solidFill>
          <a:ln w="12700">
            <a:solidFill>
              <a:srgbClr val="467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130552" y="2020824"/>
            <a:ext cx="1124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Normalize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130552" y="2322576"/>
            <a:ext cx="112471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GTF -&gt; exon-aware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annotation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392424" y="2340864"/>
            <a:ext cx="82296" cy="0"/>
          </a:xfrm>
          <a:prstGeom prst="line">
            <a:avLst/>
          </a:prstGeom>
          <a:noFill/>
          <a:ln w="19050">
            <a:solidFill>
              <a:srgbClr val="3B8C6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511296" y="1874520"/>
            <a:ext cx="1344168" cy="932688"/>
          </a:xfrm>
          <a:prstGeom prst="roundRect">
            <a:avLst>
              <a:gd name="adj" fmla="val 7843"/>
            </a:avLst>
          </a:prstGeom>
          <a:solidFill>
            <a:srgbClr val="3B8C68"/>
          </a:solidFill>
          <a:ln w="12700">
            <a:solidFill>
              <a:srgbClr val="3B8C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621024" y="2020824"/>
            <a:ext cx="1124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QC + trim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21024" y="2322576"/>
            <a:ext cx="112471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FastQC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Trim Galore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882896" y="2340864"/>
            <a:ext cx="82296" cy="0"/>
          </a:xfrm>
          <a:prstGeom prst="line">
            <a:avLst/>
          </a:prstGeom>
          <a:noFill/>
          <a:ln w="19050">
            <a:solidFill>
              <a:srgbClr val="3B8C6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001768" y="1874520"/>
            <a:ext cx="1344168" cy="932688"/>
          </a:xfrm>
          <a:prstGeom prst="roundRect">
            <a:avLst>
              <a:gd name="adj" fmla="val 7843"/>
            </a:avLst>
          </a:prstGeom>
          <a:solidFill>
            <a:srgbClr val="1E5B45"/>
          </a:solidFill>
          <a:ln w="12700">
            <a:solidFill>
              <a:srgbClr val="1E5B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111496" y="2020824"/>
            <a:ext cx="1124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Align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111496" y="2322576"/>
            <a:ext cx="112471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 index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2-pass alignment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373368" y="2340864"/>
            <a:ext cx="82296" cy="0"/>
          </a:xfrm>
          <a:prstGeom prst="line">
            <a:avLst/>
          </a:prstGeom>
          <a:noFill/>
          <a:ln w="19050">
            <a:solidFill>
              <a:srgbClr val="3B8C6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492240" y="1874520"/>
            <a:ext cx="1344168" cy="932688"/>
          </a:xfrm>
          <a:prstGeom prst="roundRect">
            <a:avLst>
              <a:gd name="adj" fmla="val 7843"/>
            </a:avLst>
          </a:prstGeom>
          <a:solidFill>
            <a:srgbClr val="E37D42"/>
          </a:solidFill>
          <a:ln w="12700">
            <a:solidFill>
              <a:srgbClr val="E37D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601968" y="2020824"/>
            <a:ext cx="1124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Count + QC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601968" y="2322576"/>
            <a:ext cx="112471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RSeQC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count matrix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863840" y="2340864"/>
            <a:ext cx="82296" cy="0"/>
          </a:xfrm>
          <a:prstGeom prst="line">
            <a:avLst/>
          </a:prstGeom>
          <a:noFill/>
          <a:ln w="19050">
            <a:solidFill>
              <a:srgbClr val="3B8C6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982712" y="1874520"/>
            <a:ext cx="1344168" cy="932688"/>
          </a:xfrm>
          <a:prstGeom prst="roundRect">
            <a:avLst>
              <a:gd name="adj" fmla="val 7843"/>
            </a:avLst>
          </a:prstGeom>
          <a:solidFill>
            <a:srgbClr val="F1B95D"/>
          </a:solidFill>
          <a:ln w="12700">
            <a:solidFill>
              <a:srgbClr val="F1B9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092440" y="2020824"/>
            <a:ext cx="1124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 + report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092440" y="2322576"/>
            <a:ext cx="112471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DESeq2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MultiQC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85800" y="3246120"/>
            <a:ext cx="2331720" cy="777240"/>
          </a:xfrm>
          <a:prstGeom prst="roundRect">
            <a:avLst>
              <a:gd name="adj" fmla="val 9412"/>
            </a:avLst>
          </a:prstGeom>
          <a:solidFill>
            <a:srgbClr val="EEF4F0"/>
          </a:solidFill>
          <a:ln w="10160">
            <a:solidFill>
              <a:srgbClr val="D7E2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68680" y="341071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E5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Parallelism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68680" y="3685032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B6B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FastQC, trimming, alignment, and RSeQC shard by sample.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246120" y="3246120"/>
            <a:ext cx="2331720" cy="777240"/>
          </a:xfrm>
          <a:prstGeom prst="roundRect">
            <a:avLst>
              <a:gd name="adj" fmla="val 9412"/>
            </a:avLst>
          </a:prstGeom>
          <a:solidFill>
            <a:srgbClr val="EEF4F0"/>
          </a:solidFill>
          <a:ln w="10160">
            <a:solidFill>
              <a:srgbClr val="D7E2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429000" y="341071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E5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Dependency control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429000" y="3685032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B6B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Counts wait for STAR; DESeq2 waits for the matrix.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806440" y="3246120"/>
            <a:ext cx="2331720" cy="777240"/>
          </a:xfrm>
          <a:prstGeom prst="roundRect">
            <a:avLst>
              <a:gd name="adj" fmla="val 9412"/>
            </a:avLst>
          </a:prstGeom>
          <a:solidFill>
            <a:srgbClr val="EEF4F0"/>
          </a:solidFill>
          <a:ln w="10160">
            <a:solidFill>
              <a:srgbClr val="D7E2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989320" y="341071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E5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 trail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989320" y="3685032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B6B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call has its own execution directory, logs, rc, and outputs.</a:t>
            </a:r>
            <a:endParaRPr lang="en-US" sz="95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94192" y="48188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5B6B6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10896"/>
            <a:ext cx="7589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1E5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 STAGE PURPOSES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Each stage answers a different QC or analysis question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30352" y="109728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B6B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pipeline separates read quality, alignment quality, quantification, and statistical inference.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21792" y="1737360"/>
            <a:ext cx="566928" cy="292608"/>
          </a:xfrm>
          <a:prstGeom prst="roundRect">
            <a:avLst>
              <a:gd name="adj" fmla="val 18750"/>
            </a:avLst>
          </a:prstGeom>
          <a:solidFill>
            <a:srgbClr val="4679A7"/>
          </a:solidFill>
          <a:ln w="12700">
            <a:solidFill>
              <a:srgbClr val="467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21792" y="1796796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1-4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417320" y="166420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preparation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154680" y="1655064"/>
            <a:ext cx="5230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031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GTF normalization, pre-trim FastQC, Trim Galore adapter/quality trimming, post-trim FastQC</a:t>
            </a:r>
            <a:endParaRPr lang="en-US" sz="1120" dirty="0"/>
          </a:p>
        </p:txBody>
      </p:sp>
      <p:sp>
        <p:nvSpPr>
          <p:cNvPr id="9" name="Shape 7"/>
          <p:cNvSpPr/>
          <p:nvPr/>
        </p:nvSpPr>
        <p:spPr>
          <a:xfrm>
            <a:off x="1417320" y="2112264"/>
            <a:ext cx="6967728" cy="0"/>
          </a:xfrm>
          <a:prstGeom prst="line">
            <a:avLst/>
          </a:prstGeom>
          <a:noFill/>
          <a:ln w="8890">
            <a:solidFill>
              <a:srgbClr val="D7E2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21792" y="2395728"/>
            <a:ext cx="566928" cy="292608"/>
          </a:xfrm>
          <a:prstGeom prst="roundRect">
            <a:avLst>
              <a:gd name="adj" fmla="val 18750"/>
            </a:avLst>
          </a:prstGeom>
          <a:solidFill>
            <a:srgbClr val="1E5B45"/>
          </a:solidFill>
          <a:ln w="12700">
            <a:solidFill>
              <a:srgbClr val="1E5B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21792" y="2455164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5-6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417320" y="2322576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Alignment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154680" y="2313432"/>
            <a:ext cx="5230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031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 genome index + 2-pass alignment; produces BAM, BAI, gene counts, splice junctions, and logs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1417320" y="2770632"/>
            <a:ext cx="6967728" cy="0"/>
          </a:xfrm>
          <a:prstGeom prst="line">
            <a:avLst/>
          </a:prstGeom>
          <a:noFill/>
          <a:ln w="8890">
            <a:solidFill>
              <a:srgbClr val="D7E2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21792" y="3054096"/>
            <a:ext cx="566928" cy="292608"/>
          </a:xfrm>
          <a:prstGeom prst="roundRect">
            <a:avLst>
              <a:gd name="adj" fmla="val 18750"/>
            </a:avLst>
          </a:prstGeom>
          <a:solidFill>
            <a:srgbClr val="E37D42"/>
          </a:solidFill>
          <a:ln w="12700">
            <a:solidFill>
              <a:srgbClr val="E37D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21792" y="3113532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7-8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417320" y="2980944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Alignment QC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154680" y="2971800"/>
            <a:ext cx="5230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031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GTF-to-BED12 conversion followed by RSeQC read distribution, gene-body coverage, strand, and BAM QC</a:t>
            </a:r>
            <a:endParaRPr lang="en-US" sz="1120" dirty="0"/>
          </a:p>
        </p:txBody>
      </p:sp>
      <p:sp>
        <p:nvSpPr>
          <p:cNvPr id="19" name="Shape 17"/>
          <p:cNvSpPr/>
          <p:nvPr/>
        </p:nvSpPr>
        <p:spPr>
          <a:xfrm>
            <a:off x="1417320" y="3429000"/>
            <a:ext cx="6967728" cy="0"/>
          </a:xfrm>
          <a:prstGeom prst="line">
            <a:avLst/>
          </a:prstGeom>
          <a:noFill/>
          <a:ln w="8890">
            <a:solidFill>
              <a:srgbClr val="D7E2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21792" y="3712464"/>
            <a:ext cx="566928" cy="292608"/>
          </a:xfrm>
          <a:prstGeom prst="roundRect">
            <a:avLst>
              <a:gd name="adj" fmla="val 18750"/>
            </a:avLst>
          </a:prstGeom>
          <a:solidFill>
            <a:srgbClr val="F1B95D"/>
          </a:solidFill>
          <a:ln w="12700">
            <a:solidFill>
              <a:srgbClr val="F1B9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21792" y="3771900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9-10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417320" y="363931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Statistics + reporting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154680" y="3630168"/>
            <a:ext cx="5230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031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Combine counts, DESeq2, compiled results, MultiQC, and optional organized output tree</a:t>
            </a:r>
            <a:endParaRPr lang="en-US" sz="1120" dirty="0"/>
          </a:p>
        </p:txBody>
      </p:sp>
      <p:sp>
        <p:nvSpPr>
          <p:cNvPr id="24" name="Shape 22"/>
          <p:cNvSpPr/>
          <p:nvPr/>
        </p:nvSpPr>
        <p:spPr>
          <a:xfrm>
            <a:off x="1417320" y="4087368"/>
            <a:ext cx="6967728" cy="0"/>
          </a:xfrm>
          <a:prstGeom prst="line">
            <a:avLst/>
          </a:prstGeom>
          <a:noFill/>
          <a:ln w="8890">
            <a:solidFill>
              <a:srgbClr val="D7E2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21792" y="4315968"/>
            <a:ext cx="7726680" cy="384048"/>
          </a:xfrm>
          <a:prstGeom prst="roundRect">
            <a:avLst>
              <a:gd name="adj" fmla="val 19048"/>
            </a:avLst>
          </a:prstGeom>
          <a:solidFill>
            <a:srgbClr val="17324D"/>
          </a:solidFill>
          <a:ln w="10160">
            <a:solidFill>
              <a:srgbClr val="1732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22960" y="4425696"/>
            <a:ext cx="7315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principle: a completed workflow is not the same as a trusted result; review QC, reference identity, and replicate structure before interpretation.</a:t>
            </a:r>
            <a:endParaRPr lang="en-US" sz="102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94192" y="48188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5B6B6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10896"/>
            <a:ext cx="7589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1E5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 EXECUTION ON HPC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Cromwell is the conductor; SLURM runs the instruments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30352" y="109728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B6B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final configuration isolates environments so child jobs resolve the same tools every time.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21792" y="1645920"/>
            <a:ext cx="2148840" cy="1234440"/>
          </a:xfrm>
          <a:prstGeom prst="roundRect">
            <a:avLst>
              <a:gd name="adj" fmla="val 5926"/>
            </a:avLst>
          </a:prstGeom>
          <a:solidFill>
            <a:srgbClr val="17324D"/>
          </a:solidFill>
          <a:ln w="10160">
            <a:solidFill>
              <a:srgbClr val="1732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90195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Cromwell master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25856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D7E7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workflow state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D7E7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call dependencies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D7E7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metadata + logs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880360" y="2258568"/>
            <a:ext cx="822960" cy="0"/>
          </a:xfrm>
          <a:prstGeom prst="line">
            <a:avLst/>
          </a:prstGeom>
          <a:noFill/>
          <a:ln w="25400">
            <a:solidFill>
              <a:srgbClr val="E37D4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840480" y="1645920"/>
            <a:ext cx="2148840" cy="1234440"/>
          </a:xfrm>
          <a:prstGeom prst="roundRect">
            <a:avLst>
              <a:gd name="adj" fmla="val 5926"/>
            </a:avLst>
          </a:prstGeom>
          <a:solidFill>
            <a:srgbClr val="1E5B45"/>
          </a:solidFill>
          <a:ln w="10160">
            <a:solidFill>
              <a:srgbClr val="1E5B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041648" y="190195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SLURM backend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041648" y="225856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E2F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sbatch --parsable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2F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partition: general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2F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child job IDs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99048" y="2258568"/>
            <a:ext cx="822960" cy="0"/>
          </a:xfrm>
          <a:prstGeom prst="line">
            <a:avLst/>
          </a:prstGeom>
          <a:noFill/>
          <a:ln w="25400">
            <a:solidFill>
              <a:srgbClr val="E37D4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059168" y="1645920"/>
            <a:ext cx="1463040" cy="1234440"/>
          </a:xfrm>
          <a:prstGeom prst="roundRect">
            <a:avLst>
              <a:gd name="adj" fmla="val 5926"/>
            </a:avLst>
          </a:prstGeom>
          <a:solidFill>
            <a:srgbClr val="E37D42"/>
          </a:solidFill>
          <a:ln w="10160">
            <a:solidFill>
              <a:srgbClr val="E37D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223760" y="1901952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 jobs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223760" y="2221992"/>
            <a:ext cx="11430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FastQC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RSeQC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DESeq2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58368" y="331012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failed during debugging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58368" y="3639312"/>
            <a:ext cx="25146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0160">
            <a:solidFill>
              <a:srgbClr val="D7E2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95528" y="377647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B84C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 discovery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95528" y="400507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5B6B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gffread, Trim Galore, FastQC, bedparse, pandas, and optparse were not initially available to child jobs.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3419856" y="3639312"/>
            <a:ext cx="25146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0160">
            <a:solidFill>
              <a:srgbClr val="D7E2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557016" y="377647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B84C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Runtime conflicts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557016" y="400507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5B6B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Legacy RSeQC 2.6.3 + Python 2 caused opcode and ABI errors; modern RSeQC 5.0.5 fixed the route.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6181344" y="3639312"/>
            <a:ext cx="25146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0160">
            <a:solidFill>
              <a:srgbClr val="D7E2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318504" y="377647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B84C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Scheduler wiring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318504" y="400507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5B6B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Empty submit blocks, --wait, and job-ID parsing prevented Cromwell from tracking SLURM jobs reliably.</a:t>
            </a:r>
            <a:endParaRPr lang="en-US" sz="88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94192" y="48188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5B6B6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10896"/>
            <a:ext cx="7589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1E5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 KEY QC RESULT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Mapping was consistently high across all six libraries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30352" y="109728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B6B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STAR-derived mapped-any percentage; review multimapping and gene assignment alongside the global rate.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13232" y="1664208"/>
            <a:ext cx="539496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0160">
            <a:solidFill>
              <a:srgbClr val="D7E2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182880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5B6B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Mapped-any (%)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216152" y="3840480"/>
            <a:ext cx="4434840" cy="0"/>
          </a:xfrm>
          <a:prstGeom prst="line">
            <a:avLst/>
          </a:prstGeom>
          <a:noFill/>
          <a:ln w="7620">
            <a:solidFill>
              <a:srgbClr val="E7E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3767328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5B6B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94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216152" y="3451860"/>
            <a:ext cx="4434840" cy="0"/>
          </a:xfrm>
          <a:prstGeom prst="line">
            <a:avLst/>
          </a:prstGeom>
          <a:noFill/>
          <a:ln w="7620">
            <a:solidFill>
              <a:srgbClr val="E7E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2960" y="3378708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5B6B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95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216152" y="3063240"/>
            <a:ext cx="4434840" cy="0"/>
          </a:xfrm>
          <a:prstGeom prst="line">
            <a:avLst/>
          </a:prstGeom>
          <a:noFill/>
          <a:ln w="12700">
            <a:solidFill>
              <a:srgbClr val="B7CDB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2960" y="2990088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5B6B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96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216152" y="2674620"/>
            <a:ext cx="4434840" cy="0"/>
          </a:xfrm>
          <a:prstGeom prst="line">
            <a:avLst/>
          </a:prstGeom>
          <a:noFill/>
          <a:ln w="7620">
            <a:solidFill>
              <a:srgbClr val="E7E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2960" y="2601468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5B6B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97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216152" y="2286000"/>
            <a:ext cx="4434840" cy="0"/>
          </a:xfrm>
          <a:prstGeom prst="line">
            <a:avLst/>
          </a:prstGeom>
          <a:noFill/>
          <a:ln w="7620">
            <a:solidFill>
              <a:srgbClr val="E7E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22960" y="2212848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5B6B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98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1371600" y="2709596"/>
            <a:ext cx="429768" cy="1130884"/>
          </a:xfrm>
          <a:prstGeom prst="rect">
            <a:avLst/>
          </a:prstGeom>
          <a:solidFill>
            <a:srgbClr val="1E5B45"/>
          </a:solidFill>
          <a:ln w="12700">
            <a:solidFill>
              <a:srgbClr val="1E5B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280160" y="2480996"/>
            <a:ext cx="612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96.91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243584" y="3941064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5B6B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CD6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5B6B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Shoot1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2075688" y="2791206"/>
            <a:ext cx="429768" cy="1049274"/>
          </a:xfrm>
          <a:prstGeom prst="rect">
            <a:avLst/>
          </a:prstGeom>
          <a:solidFill>
            <a:srgbClr val="1E5B45"/>
          </a:solidFill>
          <a:ln w="12700">
            <a:solidFill>
              <a:srgbClr val="1E5B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984248" y="2562606"/>
            <a:ext cx="612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96.70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947672" y="3941064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5B6B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CD6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5B6B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Shoot2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2779776" y="2911678"/>
            <a:ext cx="429768" cy="928802"/>
          </a:xfrm>
          <a:prstGeom prst="rect">
            <a:avLst/>
          </a:prstGeom>
          <a:solidFill>
            <a:srgbClr val="1E5B45"/>
          </a:solidFill>
          <a:ln w="12700">
            <a:solidFill>
              <a:srgbClr val="1E5B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688336" y="2683078"/>
            <a:ext cx="612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96.39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651760" y="3941064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5B6B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CD6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5B6B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Shoot3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3483864" y="2868930"/>
            <a:ext cx="429768" cy="971550"/>
          </a:xfrm>
          <a:prstGeom prst="rect">
            <a:avLst/>
          </a:prstGeom>
          <a:solidFill>
            <a:srgbClr val="E37D42"/>
          </a:solidFill>
          <a:ln w="12700">
            <a:solidFill>
              <a:srgbClr val="E37D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392424" y="2640330"/>
            <a:ext cx="612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96.50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355848" y="3941064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5B6B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5B6B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Shoot1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4187952" y="2732913"/>
            <a:ext cx="429768" cy="1107567"/>
          </a:xfrm>
          <a:prstGeom prst="rect">
            <a:avLst/>
          </a:prstGeom>
          <a:solidFill>
            <a:srgbClr val="E37D42"/>
          </a:solidFill>
          <a:ln w="12700">
            <a:solidFill>
              <a:srgbClr val="E37D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096512" y="2504313"/>
            <a:ext cx="612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96.85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059936" y="3941064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5B6B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5B6B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Shoot2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4892040" y="2678506"/>
            <a:ext cx="429768" cy="1161974"/>
          </a:xfrm>
          <a:prstGeom prst="rect">
            <a:avLst/>
          </a:prstGeom>
          <a:solidFill>
            <a:srgbClr val="E37D42"/>
          </a:solidFill>
          <a:ln w="12700">
            <a:solidFill>
              <a:srgbClr val="E37D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800600" y="2449906"/>
            <a:ext cx="612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96.99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764024" y="3941064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5B6B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5B6B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Shoot3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1490472" y="4059936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E5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CD6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3639312" y="4059936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E37D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419088" y="1664208"/>
            <a:ext cx="1938528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0160">
            <a:solidFill>
              <a:srgbClr val="D7E2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6419088" y="1664208"/>
            <a:ext cx="73152" cy="868680"/>
          </a:xfrm>
          <a:prstGeom prst="rect">
            <a:avLst/>
          </a:prstGeom>
          <a:solidFill>
            <a:srgbClr val="1E5B45"/>
          </a:solidFill>
          <a:ln w="12700">
            <a:solidFill>
              <a:srgbClr val="1E5B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620256" y="1810512"/>
            <a:ext cx="1618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96.67%</a:t>
            </a:r>
            <a:endParaRPr lang="en-US" sz="2400" dirty="0"/>
          </a:p>
        </p:txBody>
      </p:sp>
      <p:sp>
        <p:nvSpPr>
          <p:cNvPr id="40" name="Text 38"/>
          <p:cNvSpPr/>
          <p:nvPr/>
        </p:nvSpPr>
        <p:spPr>
          <a:xfrm>
            <a:off x="6620256" y="2212848"/>
            <a:ext cx="1618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5B6B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 mapped-any: CD6</a:t>
            </a:r>
            <a:endParaRPr lang="en-US" sz="920" dirty="0"/>
          </a:p>
        </p:txBody>
      </p:sp>
      <p:sp>
        <p:nvSpPr>
          <p:cNvPr id="41" name="Shape 39"/>
          <p:cNvSpPr/>
          <p:nvPr/>
        </p:nvSpPr>
        <p:spPr>
          <a:xfrm>
            <a:off x="6419088" y="2679192"/>
            <a:ext cx="1938528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0160">
            <a:solidFill>
              <a:srgbClr val="D7E2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6419088" y="2679192"/>
            <a:ext cx="73152" cy="868680"/>
          </a:xfrm>
          <a:prstGeom prst="rect">
            <a:avLst/>
          </a:prstGeom>
          <a:solidFill>
            <a:srgbClr val="E37D42"/>
          </a:solidFill>
          <a:ln w="12700">
            <a:solidFill>
              <a:srgbClr val="E37D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620256" y="2825496"/>
            <a:ext cx="1618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96.78%</a:t>
            </a:r>
            <a:endParaRPr lang="en-US" sz="2400" dirty="0"/>
          </a:p>
        </p:txBody>
      </p:sp>
      <p:sp>
        <p:nvSpPr>
          <p:cNvPr id="44" name="Text 42"/>
          <p:cNvSpPr/>
          <p:nvPr/>
        </p:nvSpPr>
        <p:spPr>
          <a:xfrm>
            <a:off x="6620256" y="3227832"/>
            <a:ext cx="1618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5B6B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 mapped-any: Control</a:t>
            </a:r>
            <a:endParaRPr lang="en-US" sz="920" dirty="0"/>
          </a:p>
        </p:txBody>
      </p:sp>
      <p:sp>
        <p:nvSpPr>
          <p:cNvPr id="45" name="Shape 43"/>
          <p:cNvSpPr/>
          <p:nvPr/>
        </p:nvSpPr>
        <p:spPr>
          <a:xfrm>
            <a:off x="6419088" y="3694176"/>
            <a:ext cx="1938528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0160">
            <a:solidFill>
              <a:srgbClr val="D7E2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6419088" y="3694176"/>
            <a:ext cx="73152" cy="868680"/>
          </a:xfrm>
          <a:prstGeom prst="rect">
            <a:avLst/>
          </a:prstGeom>
          <a:solidFill>
            <a:srgbClr val="4679A7"/>
          </a:solidFill>
          <a:ln w="12700">
            <a:solidFill>
              <a:srgbClr val="467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620256" y="3840480"/>
            <a:ext cx="1618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84.89-90.24%</a:t>
            </a:r>
            <a:endParaRPr lang="en-US" sz="2400" dirty="0"/>
          </a:p>
        </p:txBody>
      </p:sp>
      <p:sp>
        <p:nvSpPr>
          <p:cNvPr id="48" name="Text 46"/>
          <p:cNvSpPr/>
          <p:nvPr/>
        </p:nvSpPr>
        <p:spPr>
          <a:xfrm>
            <a:off x="6620256" y="4242816"/>
            <a:ext cx="1618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5B6B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gene-assigned range</a:t>
            </a:r>
            <a:endParaRPr lang="en-US" sz="920" dirty="0"/>
          </a:p>
        </p:txBody>
      </p:sp>
      <p:sp>
        <p:nvSpPr>
          <p:cNvPr id="49" name="Text 47"/>
          <p:cNvSpPr/>
          <p:nvPr/>
        </p:nvSpPr>
        <p:spPr>
          <a:xfrm>
            <a:off x="749808" y="4535424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5B6B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point: ControlShoot1/2 showed higher multimapping (6.84% / 6.56%).</a:t>
            </a:r>
            <a:endParaRPr lang="en-US" sz="1000" dirty="0"/>
          </a:p>
        </p:txBody>
      </p:sp>
      <p:sp>
        <p:nvSpPr>
          <p:cNvPr id="5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94192" y="48188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5B6B6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10896"/>
            <a:ext cx="7589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1E5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 COUNTS TO BIOLOGY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count matrix is the bridge from alignment to differential expression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30352" y="109728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B6B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 gene counts are combined, annotated, and modeled with DESeq2 using the predeclared contrast.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58368" y="1737360"/>
            <a:ext cx="1874520" cy="868680"/>
          </a:xfrm>
          <a:prstGeom prst="roundRect">
            <a:avLst>
              <a:gd name="adj" fmla="val 8421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68096" y="1883664"/>
            <a:ext cx="1655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 counts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68096" y="2185416"/>
            <a:ext cx="1655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ReadsPerGene.out.tab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 sample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615184" y="2176272"/>
            <a:ext cx="658368" cy="0"/>
          </a:xfrm>
          <a:prstGeom prst="line">
            <a:avLst/>
          </a:prstGeom>
          <a:noFill/>
          <a:ln w="25400">
            <a:solidFill>
              <a:srgbClr val="3B8C6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355848" y="1737360"/>
            <a:ext cx="1920240" cy="868680"/>
          </a:xfrm>
          <a:prstGeom prst="roundRect">
            <a:avLst>
              <a:gd name="adj" fmla="val 8421"/>
            </a:avLst>
          </a:prstGeom>
          <a:solidFill>
            <a:srgbClr val="1E5B45"/>
          </a:solidFill>
          <a:ln w="12700">
            <a:solidFill>
              <a:srgbClr val="1E5B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465576" y="1883664"/>
            <a:ext cx="1700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Combined matrix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65576" y="2185416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combined_counts_matrix.txt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sample_metadata.txt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358384" y="2176272"/>
            <a:ext cx="658368" cy="0"/>
          </a:xfrm>
          <a:prstGeom prst="line">
            <a:avLst/>
          </a:prstGeom>
          <a:noFill/>
          <a:ln w="25400">
            <a:solidFill>
              <a:srgbClr val="3B8C6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099048" y="1737360"/>
            <a:ext cx="1874520" cy="868680"/>
          </a:xfrm>
          <a:prstGeom prst="roundRect">
            <a:avLst>
              <a:gd name="adj" fmla="val 8421"/>
            </a:avLst>
          </a:prstGeom>
          <a:solidFill>
            <a:srgbClr val="E37D42"/>
          </a:solidFill>
          <a:ln w="12700">
            <a:solidFill>
              <a:srgbClr val="E37D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08776" y="1883664"/>
            <a:ext cx="1655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DESeq2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08776" y="2185416"/>
            <a:ext cx="1655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design: ~ condition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contrast: CD6-Control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58368" y="3063240"/>
            <a:ext cx="36576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0160">
            <a:solidFill>
              <a:srgbClr val="D7E2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68680" y="327355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DESeq2 produces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68680" y="3566160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2031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all-gene statistics and significant results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2031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normalized counts and shrunken LFC results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2031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PCA, MA, volcano, and heatmap PDFs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53712" y="3063240"/>
            <a:ext cx="36576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0160">
            <a:solidFill>
              <a:srgbClr val="D7E2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64024" y="327355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 guardrails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64024" y="3566160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2031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positive log2FC means higher expression in CD6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2031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padj for genome-wide significance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2031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inspect PCA and replicate outliers before claims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76656" y="4526280"/>
            <a:ext cx="7635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i="1" dirty="0">
                <a:solidFill>
                  <a:srgbClr val="5B6B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completed run confirms the analysis products were generated; biological conclusions still require QC review and study-specific thresholds.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94192" y="48188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5B6B6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10896"/>
            <a:ext cx="7589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1E5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 WHERE THE OUTPUTS LIVE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 the organized result tree for delivery; retain the Cromwell tree for provenance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30352" y="109728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B6B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paths below are relative to the successful workflow root.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7863840" cy="502920"/>
          </a:xfrm>
          <a:prstGeom prst="roundRect">
            <a:avLst>
              <a:gd name="adj" fmla="val 14545"/>
            </a:avLst>
          </a:prstGeom>
          <a:solidFill>
            <a:srgbClr val="17324D"/>
          </a:solidFill>
          <a:ln w="10160">
            <a:solidFill>
              <a:srgbClr val="1732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41248" y="1764792"/>
            <a:ext cx="7452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${PROJECT_ROOT}/cromwell-executions/rnaseq/d94bf175-9ca9-46b7-94e1-5080aa202420</a:t>
            </a:r>
            <a:endParaRPr lang="en-US" sz="920" dirty="0"/>
          </a:p>
        </p:txBody>
      </p:sp>
      <p:sp>
        <p:nvSpPr>
          <p:cNvPr id="7" name="Shape 5"/>
          <p:cNvSpPr/>
          <p:nvPr/>
        </p:nvSpPr>
        <p:spPr>
          <a:xfrm>
            <a:off x="960120" y="2670048"/>
            <a:ext cx="502920" cy="0"/>
          </a:xfrm>
          <a:prstGeom prst="line">
            <a:avLst/>
          </a:prstGeom>
          <a:noFill/>
          <a:ln w="15240">
            <a:solidFill>
              <a:srgbClr val="3B8C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60120" y="2103120"/>
            <a:ext cx="0" cy="320040"/>
          </a:xfrm>
          <a:prstGeom prst="line">
            <a:avLst/>
          </a:prstGeom>
          <a:noFill/>
          <a:ln w="15240">
            <a:solidFill>
              <a:srgbClr val="D7E2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481328" y="2423160"/>
            <a:ext cx="1828800" cy="475488"/>
          </a:xfrm>
          <a:prstGeom prst="roundRect">
            <a:avLst>
              <a:gd name="adj" fmla="val 15385"/>
            </a:avLst>
          </a:prstGeom>
          <a:solidFill>
            <a:srgbClr val="1E5B45"/>
          </a:solidFill>
          <a:ln w="10160">
            <a:solidFill>
              <a:srgbClr val="1E5B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618488" y="2578608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06-deseq2/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547872" y="2569464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031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combined matrix, metadata, DESeq2 CSVs, PDFs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960120" y="3328416"/>
            <a:ext cx="502920" cy="0"/>
          </a:xfrm>
          <a:prstGeom prst="line">
            <a:avLst/>
          </a:prstGeom>
          <a:noFill/>
          <a:ln w="15240">
            <a:solidFill>
              <a:srgbClr val="3B8C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960120" y="2103120"/>
            <a:ext cx="0" cy="978408"/>
          </a:xfrm>
          <a:prstGeom prst="line">
            <a:avLst/>
          </a:prstGeom>
          <a:noFill/>
          <a:ln w="15240">
            <a:solidFill>
              <a:srgbClr val="D7E2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481328" y="3081528"/>
            <a:ext cx="1828800" cy="475488"/>
          </a:xfrm>
          <a:prstGeom prst="roundRect">
            <a:avLst>
              <a:gd name="adj" fmla="val 15385"/>
            </a:avLst>
          </a:prstGeom>
          <a:solidFill>
            <a:srgbClr val="E37D42"/>
          </a:solidFill>
          <a:ln w="10160">
            <a:solidFill>
              <a:srgbClr val="E37D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618488" y="3236976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07-multiqc/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547872" y="32278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031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multiqc_report.html + data ZIP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60120" y="3986784"/>
            <a:ext cx="502920" cy="0"/>
          </a:xfrm>
          <a:prstGeom prst="line">
            <a:avLst/>
          </a:prstGeom>
          <a:noFill/>
          <a:ln w="15240">
            <a:solidFill>
              <a:srgbClr val="3B8C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960120" y="2103120"/>
            <a:ext cx="0" cy="1636776"/>
          </a:xfrm>
          <a:prstGeom prst="line">
            <a:avLst/>
          </a:prstGeom>
          <a:noFill/>
          <a:ln w="15240">
            <a:solidFill>
              <a:srgbClr val="D7E2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481328" y="3739896"/>
            <a:ext cx="1828800" cy="475488"/>
          </a:xfrm>
          <a:prstGeom prst="roundRect">
            <a:avLst>
              <a:gd name="adj" fmla="val 15385"/>
            </a:avLst>
          </a:prstGeom>
          <a:solidFill>
            <a:srgbClr val="4679A7"/>
          </a:solidFill>
          <a:ln w="10160">
            <a:solidFill>
              <a:srgbClr val="467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618488" y="3895344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rnaseq_results/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547872" y="3886200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031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organized delivery tree from step10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035040" y="3977640"/>
            <a:ext cx="2331720" cy="576072"/>
          </a:xfrm>
          <a:prstGeom prst="roundRect">
            <a:avLst>
              <a:gd name="adj" fmla="val 12698"/>
            </a:avLst>
          </a:prstGeom>
          <a:solidFill>
            <a:srgbClr val="DCEFE5"/>
          </a:solidFill>
          <a:ln w="10160">
            <a:solidFill>
              <a:srgbClr val="D7E2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217920" y="4105656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5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Delivery archive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17920" y="4315968"/>
            <a:ext cx="1920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2031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cd6_vs_control_results.tar.gz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58368" y="4498848"/>
            <a:ext cx="5166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B6B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FASTQs, BAMs, STAR index, and Cromwell intermediates outside GitHub; archive them separately when needed.</a:t>
            </a:r>
            <a:endParaRPr lang="en-US" sz="95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94192" y="48188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5B6B6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10896"/>
            <a:ext cx="7589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1E5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 REPRODUCIBILITY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Make the next run a sample update, not another debugging project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30352" y="109728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B6B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Separate repository code, data, results, and site-specific configuration.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233172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0160">
            <a:solidFill>
              <a:srgbClr val="D7E2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04672" y="1938528"/>
            <a:ext cx="1170432" cy="283464"/>
          </a:xfrm>
          <a:prstGeom prst="roundRect">
            <a:avLst>
              <a:gd name="adj" fmla="val 16129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1997964"/>
            <a:ext cx="9509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41248" y="2395728"/>
            <a:ext cx="1920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031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README.md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031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ww-rnaseq.wdl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031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preflight.sh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031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slurm.conf.template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031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inputs template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83280" y="1737360"/>
            <a:ext cx="233172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0160">
            <a:solidFill>
              <a:srgbClr val="D7E2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547872" y="1938528"/>
            <a:ext cx="1170432" cy="283464"/>
          </a:xfrm>
          <a:prstGeom prst="roundRect">
            <a:avLst>
              <a:gd name="adj" fmla="val 16129"/>
            </a:avLst>
          </a:prstGeom>
          <a:solidFill>
            <a:srgbClr val="1E5B45"/>
          </a:solidFill>
          <a:ln w="12700">
            <a:solidFill>
              <a:srgbClr val="1E5B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0" y="1997964"/>
            <a:ext cx="9509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storage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584448" y="2395728"/>
            <a:ext cx="1920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031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FASTQs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031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 FASTA/GTF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031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 index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031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optional BAM/BAI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1737360"/>
            <a:ext cx="233172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0160">
            <a:solidFill>
              <a:srgbClr val="D7E2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291072" y="1938528"/>
            <a:ext cx="1170432" cy="283464"/>
          </a:xfrm>
          <a:prstGeom prst="roundRect">
            <a:avLst>
              <a:gd name="adj" fmla="val 16129"/>
            </a:avLst>
          </a:prstGeom>
          <a:solidFill>
            <a:srgbClr val="E37D42"/>
          </a:solidFill>
          <a:ln w="12700">
            <a:solidFill>
              <a:srgbClr val="E37D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00800" y="1997964"/>
            <a:ext cx="9509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Results storage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327648" y="2395728"/>
            <a:ext cx="1920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031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DESeq2 CSVs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031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plots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031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MultiQC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031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results archive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8368" y="400507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Future-run checklist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148840" y="3931920"/>
            <a:ext cx="5577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2031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 samples.tsv and FASTQ paths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2031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preflight.sh and Womtool validation with Java 11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2031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submit with sbatch; confirm Cromwell reaches Succeeded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2031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mapping, RSeQC, PCA, and MultiQC before interpretation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94192" y="48188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5B6B6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10896"/>
            <a:ext cx="7589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1E5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  TAKEAWAYS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successful WDL run is an auditable analysis, not a black box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30352" y="109728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B6B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workflow now has a tested path from raw reads to portable deliverables.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85800" y="1645920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1E5B45"/>
          </a:solidFill>
          <a:ln w="12700">
            <a:solidFill>
              <a:srgbClr val="1E5B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1705356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417320" y="1600200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Workflow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651760" y="16002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2031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logical stages connect read QC, trimming, STAR, RSeQC, counts, DESeq2, MultiQC, and organized outputs.</a:t>
            </a:r>
            <a:endParaRPr lang="en-US" sz="1140" dirty="0"/>
          </a:p>
        </p:txBody>
      </p:sp>
      <p:sp>
        <p:nvSpPr>
          <p:cNvPr id="9" name="Shape 7"/>
          <p:cNvSpPr/>
          <p:nvPr/>
        </p:nvSpPr>
        <p:spPr>
          <a:xfrm>
            <a:off x="1417320" y="2039112"/>
            <a:ext cx="6903720" cy="0"/>
          </a:xfrm>
          <a:prstGeom prst="line">
            <a:avLst/>
          </a:prstGeom>
          <a:noFill/>
          <a:ln w="8890">
            <a:solidFill>
              <a:srgbClr val="D7E2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85800" y="2304288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E37D42"/>
          </a:solidFill>
          <a:ln w="12700">
            <a:solidFill>
              <a:srgbClr val="E37D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85800" y="2363724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417320" y="2258568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651760" y="225856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2031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six libraries mapped at 96.39-96.99% mapped-any; gene assignment was 84.89-90.24%.</a:t>
            </a:r>
            <a:endParaRPr lang="en-US" sz="1140" dirty="0"/>
          </a:p>
        </p:txBody>
      </p:sp>
      <p:sp>
        <p:nvSpPr>
          <p:cNvPr id="14" name="Shape 12"/>
          <p:cNvSpPr/>
          <p:nvPr/>
        </p:nvSpPr>
        <p:spPr>
          <a:xfrm>
            <a:off x="1417320" y="2697480"/>
            <a:ext cx="6903720" cy="0"/>
          </a:xfrm>
          <a:prstGeom prst="line">
            <a:avLst/>
          </a:prstGeom>
          <a:noFill/>
          <a:ln w="8890">
            <a:solidFill>
              <a:srgbClr val="D7E2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85800" y="2962656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4679A7"/>
          </a:solidFill>
          <a:ln w="12700">
            <a:solidFill>
              <a:srgbClr val="467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85800" y="302209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417320" y="2916936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651760" y="291693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2031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Modernized environments and preflight checks prevent the missing-tool and Python/R conflicts seen during debugging.</a:t>
            </a:r>
            <a:endParaRPr lang="en-US" sz="1140" dirty="0"/>
          </a:p>
        </p:txBody>
      </p:sp>
      <p:sp>
        <p:nvSpPr>
          <p:cNvPr id="19" name="Shape 17"/>
          <p:cNvSpPr/>
          <p:nvPr/>
        </p:nvSpPr>
        <p:spPr>
          <a:xfrm>
            <a:off x="1417320" y="3355848"/>
            <a:ext cx="6903720" cy="0"/>
          </a:xfrm>
          <a:prstGeom prst="line">
            <a:avLst/>
          </a:prstGeom>
          <a:noFill/>
          <a:ln w="8890">
            <a:solidFill>
              <a:srgbClr val="D7E2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85800" y="3621024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F1B95D"/>
          </a:solidFill>
          <a:ln w="12700">
            <a:solidFill>
              <a:srgbClr val="F1B9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85800" y="3680460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417320" y="3575304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step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651760" y="35753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2031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compact results archive for reporting; use the full run root when tracing provenance or troubleshooting.</a:t>
            </a:r>
            <a:endParaRPr lang="en-US" sz="1140" dirty="0"/>
          </a:p>
        </p:txBody>
      </p:sp>
      <p:sp>
        <p:nvSpPr>
          <p:cNvPr id="24" name="Shape 22"/>
          <p:cNvSpPr/>
          <p:nvPr/>
        </p:nvSpPr>
        <p:spPr>
          <a:xfrm>
            <a:off x="1417320" y="4014216"/>
            <a:ext cx="6903720" cy="0"/>
          </a:xfrm>
          <a:prstGeom prst="line">
            <a:avLst/>
          </a:prstGeom>
          <a:noFill/>
          <a:ln w="8890">
            <a:solidFill>
              <a:srgbClr val="D7E2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85800" y="4343400"/>
            <a:ext cx="7726680" cy="347472"/>
          </a:xfrm>
          <a:prstGeom prst="roundRect">
            <a:avLst>
              <a:gd name="adj" fmla="val 21053"/>
            </a:avLst>
          </a:prstGeom>
          <a:solidFill>
            <a:srgbClr val="17324D"/>
          </a:solidFill>
          <a:ln w="10160">
            <a:solidFill>
              <a:srgbClr val="1732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68680" y="4443984"/>
            <a:ext cx="7360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Recommended presentation line: high mapping, reproducible execution, and QC-aware interpretation.</a:t>
            </a:r>
            <a:endParaRPr lang="en-US" sz="105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94192" y="48188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5B6B6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1142</TotalTime>
  <Words>1045</Words>
  <Application>Microsoft Office PowerPoint</Application>
  <PresentationFormat>On-screen Show (16:9)</PresentationFormat>
  <Paragraphs>222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MMPG Bioinformatics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WDL RNA-seq: CD6-treated vs Control shoots</dc:title>
  <dc:subject>WDL RNA-seq workflow and key results</dc:subject>
  <dc:creator>MMPG Bioinformatics</dc:creator>
  <cp:lastModifiedBy>Abdullah, Hesham</cp:lastModifiedBy>
  <cp:revision>1</cp:revision>
  <dcterms:created xsi:type="dcterms:W3CDTF">2026-10-04T19:56:18Z</dcterms:created>
  <dcterms:modified xsi:type="dcterms:W3CDTF">2026-10-05T15:45:32Z</dcterms:modified>
</cp:coreProperties>
</file>